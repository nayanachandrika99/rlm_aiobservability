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recursive, evidence-driven investigation layer on top of our AI observability stack. It turns messy trace evidence into structured, auditable RCA and compliance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"more tokens" is not the solution: it increases spend and still misses structured investigation steps.</a:t>
            </a:r>
          </a:p>
          <a:p>
            <a:r>
              <a:t>The enterprise pain is "repetitive investigations" and "inconsistent decisions."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"Think of it like a program that calls functions and returns structured values, not a chat bot generating text."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"An RLM is still an agentic system, but it is a more constrained, auditable, hierarchical form of agentic execution."</a:t>
            </a:r>
          </a:p>
          <a:p>
            <a:r>
              <a:t>The real differentiator is engineering: isolation, budgets, typed interfaces, and replay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"evidence linked to trace spans" so engineers can click through in observability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isn't "trust the model." It's "prove the model's decision with trace evidence."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"long context automation" idea: search the evidence space instead of stuffing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is built for operations: you can inspect the execution trajectory and costs for each run."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"why baseline is low": baseline is a simple deterministic heuristic; we use it only to measure non-regression and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"this becomes an observability investigation layer" not just a one-off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 the difference between "working runtime" and "perfect accuracy." We have a measurable path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references are in the speaker notes / appendix. Internal proof reports are replayable from the artifacts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76200" cy="2560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46304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B1F33"/>
                </a:solidFill>
                <a:latin typeface="Segoe UI Semibold"/>
              </a:defRPr>
            </a:pPr>
            <a:r>
              <a:t>AI Observability</a:t>
            </a:r>
            <a:br/>
            <a:r>
              <a:t>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B7F79"/>
                </a:solidFill>
                <a:latin typeface="Segoe UI Semibold"/>
              </a:defRPr>
            </a:pPr>
            <a:r>
              <a:t>(RLM-powered)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54657A"/>
                </a:solidFill>
                <a:latin typeface="Segoe UI"/>
              </a:defRPr>
            </a:pPr>
            <a:r>
              <a:t>From long-context bottlenecks to low-cost</a:t>
            </a:r>
            <a:br/>
            <a:r>
              <a:t>automated RCA and policy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9144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0B1F33"/>
                </a:solidFill>
                <a:latin typeface="Consolas"/>
              </a:defRPr>
            </a:pPr>
            <a:r>
              <a:t>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192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4657A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931920"/>
            <a:ext cx="1188720" cy="256032"/>
          </a:xfrm>
          <a:prstGeom prst="roundRect">
            <a:avLst/>
          </a:prstGeom>
          <a:solidFill>
            <a:srgbClr val="E8F5F3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1B7F79"/>
                </a:solidFill>
                <a:latin typeface="Consolas"/>
              </a:defRPr>
            </a:pPr>
            <a:r>
              <a:t>RLM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192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4657A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931920"/>
            <a:ext cx="9144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0B1F33"/>
                </a:solidFill>
                <a:latin typeface="Consolas"/>
              </a:defRPr>
            </a:pPr>
            <a:r>
              <a:t>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645920"/>
            <a:ext cx="3657600" cy="3200400"/>
          </a:xfrm>
          <a:prstGeom prst="roundRect">
            <a:avLst>
              <a:gd name="adj" fmla="val 4000"/>
            </a:avLst>
          </a:prstGeom>
          <a:solidFill>
            <a:srgbClr val="F8F4ED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0C8BC"/>
                </a:solidFill>
                <a:latin typeface="Consolas"/>
              </a:defRPr>
            </a:pPr>
            <a:r>
              <a:t>root_span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0C8BC"/>
                </a:solidFill>
                <a:latin typeface="Consolas"/>
              </a:defRPr>
            </a:pPr>
            <a:r>
              <a:t>  tool_call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0C8BC"/>
                </a:solidFill>
                <a:latin typeface="Consolas"/>
              </a:defRPr>
            </a:pPr>
            <a:r>
              <a:t> 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0C8BC"/>
                </a:solidFill>
                <a:latin typeface="Consolas"/>
              </a:defRPr>
            </a:pPr>
            <a:r>
              <a:t>    chunk_eval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749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D0C8BC"/>
                </a:solidFill>
                <a:latin typeface="Consolas"/>
              </a:defRPr>
            </a:pPr>
            <a:r>
              <a:t> 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AI Observability: The Long-Context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AI incidents are not a single log line; evidence is distributed across: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trace trees (parent/child spans)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tool I/O artifacts and errors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retrieval chunks and citations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configs/snapshots and diffs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policy controls and required evidence lists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"Long context" fails in practice: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the important clue is often buried ("lost in the middle")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stuffing everything into one prompt increases cost + confusion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repeated manual triage does not scale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We need automation that is evidence-grounded, budgeted, and replayable.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188720"/>
            <a:ext cx="4846320" cy="41148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0" y="129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1F33"/>
                </a:solidFill>
                <a:latin typeface="Segoe UI Semibold"/>
              </a:defRPr>
            </a:pPr>
            <a:r>
              <a:t>Evidence Ledger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59600" y="1554480"/>
          <a:ext cx="4572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146304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Contains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Clue Location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trace spans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parent/child graph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tool I/O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function inputs/outputs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errors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retrieval chunks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RAG context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← CRITICAL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config diffs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prompt/model changes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drift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controls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policy requirements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gaps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messages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user/assistant turns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intent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timeouts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latency signals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bottleneck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schema errors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output validation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241280" y="2971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C62828"/>
                </a:solidFill>
                <a:latin typeface="Consolas"/>
              </a:defRPr>
            </a:pPr>
            <a:r>
              <a:t>← lost in the middle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548640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FDF0F0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2480" y="5537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Segoe UI Semibold"/>
              </a:defRPr>
            </a:pPr>
            <a:r>
              <a:t>One-shot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2480" y="576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C62828"/>
                </a:solidFill>
                <a:latin typeface="Consolas"/>
              </a:defRPr>
            </a:pPr>
            <a:r>
              <a:t>⚠ tokens ↑, clarity 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5486400"/>
            <a:ext cx="2103120" cy="822960"/>
          </a:xfrm>
          <a:prstGeom prst="roundRect">
            <a:avLst>
              <a:gd name="adj" fmla="val 4000"/>
            </a:avLst>
          </a:prstGeom>
          <a:solidFill>
            <a:srgbClr val="EEF8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19920" y="5537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  <a:latin typeface="Segoe UI Semibold"/>
              </a:defRPr>
            </a:pPr>
            <a:r>
              <a:t>Bounded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9920" y="576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E7D32"/>
                </a:solidFill>
                <a:latin typeface="Consolas"/>
              </a:defRPr>
            </a:pPr>
            <a:r>
              <a:t>plan → inspect → submit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59600" y="5303520"/>
            <a:ext cx="1321308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trace_id: abc-123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4080" y="5303520"/>
            <a:ext cx="1243584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span_id: def-456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68560" y="5303520"/>
            <a:ext cx="15544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artifact_id: ghi-789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What An RLM Is (Practical Definition)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An RLM is not just a model call; it's model + runtime: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plan next step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gather evidence via tools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optionally delegate sub-investigations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synthesize, then finalize into a schema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Key property: recursive decomposition instead of monolithic prompting.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Guardrails are part of the design: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budgets (iterations, depth, tools, tokens, cost, wall-time)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sandbox / tool allowlist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schema validation + run artifacts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188720"/>
            <a:ext cx="4114800" cy="43891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4200" y="1214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214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2268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objective: "label trace failure mode"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719072"/>
            <a:ext cx="4114800" cy="43891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4200" y="1744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7444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TOOL_CALL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7571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tool: list_spans(trace_id=...)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249424"/>
            <a:ext cx="4114800" cy="43891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4200" y="2274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748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DELEGATE_SUBCALL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2875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subcall: hypothesis="retrieval_failure"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2779775"/>
            <a:ext cx="4114800" cy="43891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4200" y="2805175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80517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SYNTHESIZE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1787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patch: add evidence_refs[2]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310128"/>
            <a:ext cx="4114800" cy="43891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34200" y="33355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3355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FINALIZE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3482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submit: RCAReport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3931920"/>
            <a:ext cx="4206240" cy="274320"/>
          </a:xfrm>
          <a:prstGeom prst="roundRect">
            <a:avLst/>
          </a:prstGeom>
          <a:solidFill>
            <a:srgbClr val="F5F0E8"/>
          </a:solidFill>
          <a:ln w="9525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>
              <a:defRPr sz="800">
                <a:solidFill>
                  <a:srgbClr val="54657A"/>
                </a:solidFill>
                <a:latin typeface="Consolas"/>
              </a:defRPr>
            </a:pPr>
            <a:r>
              <a:t>depth 1/2 | iter 2/8 | tools 3/16 | cost $0.01 | wall 12s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343400"/>
            <a:ext cx="4114800" cy="1097280"/>
          </a:xfrm>
          <a:prstGeom prst="roundRect">
            <a:avLst>
              <a:gd name="adj" fmla="val 4000"/>
            </a:avLst>
          </a:prstGeom>
          <a:solidFill>
            <a:srgbClr val="F5F0E8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0" y="44196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Segoe UI Semibold"/>
              </a:defRPr>
            </a:pPr>
            <a:r>
              <a:t>Return value: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85000" y="46228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B1F33"/>
                </a:solidFill>
                <a:latin typeface="Consolas"/>
              </a:defRPr>
            </a:pPr>
            <a:r>
              <a:t>{</a:t>
            </a:r>
            <a:br/>
            <a:r>
              <a:t>  "primary_label": "retrieval_failure",</a:t>
            </a:r>
            <a:br/>
            <a:r>
              <a:t>  "evidence_refs": ["span:abc", "artifact:def"]</a:t>
            </a:r>
            <a:br/>
            <a:r>
              <a:t>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439420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SCHEMA 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464820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RLM vs Agentic Tool-Use: What's Actually Different?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234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4657A"/>
                </a:solidFill>
                <a:latin typeface="Segoe UI"/>
              </a:defRPr>
            </a:pPr>
            <a:r>
              <a:t>Structured isolation vs linear transcript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4657A"/>
                </a:solidFill>
                <a:latin typeface="Segoe UI Semibold"/>
              </a:defRPr>
            </a:pPr>
            <a:r>
              <a:t>Typical tool agent (linear transcript)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2024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B1F33"/>
                </a:solidFill>
                <a:latin typeface="Consolas"/>
              </a:defRPr>
            </a:pPr>
            <a:r>
              <a:t>user: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0B1F33"/>
                </a:solidFill>
                <a:latin typeface="Consolas"/>
              </a:defRPr>
            </a:pPr>
            <a:r>
              <a:t>What caused the failure?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54657A"/>
                </a:solidFill>
                <a:latin typeface="Consolas"/>
              </a:defRPr>
            </a:pPr>
            <a:r>
              <a:t>assistant: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Let me check the traces...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066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tool: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7066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list_spans(trace_id=abc) -&gt; 120 spans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0540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54657A"/>
                </a:solidFill>
                <a:latin typeface="Consolas"/>
              </a:defRPr>
            </a:pPr>
            <a:r>
              <a:t>assistant: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0540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I see errors in retrieval. Let me dig deeper...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tool: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4015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get_span(span_id=xyz) -&gt; {status: ERROR}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3749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C62828"/>
                </a:solidFill>
                <a:latin typeface="Consolas"/>
              </a:defRPr>
            </a:pPr>
            <a:r>
              <a:t>✘ retry: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749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C62828"/>
                </a:solidFill>
                <a:latin typeface="Consolas"/>
              </a:defRPr>
            </a:pPr>
            <a:r>
              <a:t>get_span(span_id=xyz) -&gt; 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40965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54657A"/>
                </a:solidFill>
                <a:latin typeface="Consolas"/>
              </a:defRPr>
            </a:pPr>
            <a:r>
              <a:t>assistant: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96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The retrieval span failed due to...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44439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C62828"/>
                </a:solidFill>
                <a:latin typeface="Consolas"/>
              </a:defRPr>
            </a:pPr>
            <a:r>
              <a:t>✘ retry: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4439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C62828"/>
                </a:solidFill>
                <a:latin typeface="Consolas"/>
              </a:defRPr>
            </a:pPr>
            <a:r>
              <a:t>list_spans(trace_id=abc) -&gt; stale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4791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54657A"/>
                </a:solidFill>
                <a:latin typeface="Consolas"/>
              </a:defRPr>
            </a:pPr>
            <a:r>
              <a:t>assistant: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7914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Based on all evidence I've seen...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0" y="5120640"/>
            <a:ext cx="1399032" cy="256032"/>
          </a:xfrm>
          <a:prstGeom prst="roundRect">
            <a:avLst/>
          </a:prstGeom>
          <a:solidFill>
            <a:srgbClr val="FDF0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C62828"/>
                </a:solidFill>
                <a:latin typeface="Consolas"/>
              </a:defRPr>
            </a:pPr>
            <a:r>
              <a:t>context drift 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5532120"/>
            <a:ext cx="2020824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54657A"/>
                </a:solidFill>
                <a:latin typeface="Consolas"/>
              </a:defRPr>
            </a:pPr>
            <a:r>
              <a:t>context length: 18k tokens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1554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7F79"/>
                </a:solidFill>
                <a:latin typeface="Segoe UI Semibold"/>
              </a:defRPr>
            </a:pPr>
            <a:r>
              <a:t>RLM runtime (program-like)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1920240"/>
            <a:ext cx="5303520" cy="128016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1B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7800" y="19964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B7F79"/>
                </a:solidFill>
                <a:latin typeface="Segoe UI Semibold"/>
              </a:defRPr>
            </a:pPr>
            <a:r>
              <a:t>Frame 0: root investigation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27800" y="2225040"/>
            <a:ext cx="3200400" cy="274320"/>
          </a:xfrm>
          <a:prstGeom prst="roundRect">
            <a:avLst/>
          </a:prstGeom>
          <a:solidFill>
            <a:srgbClr val="F5F0E8"/>
          </a:solidFill>
          <a:ln w="9525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>
              <a:defRPr sz="800">
                <a:solidFill>
                  <a:srgbClr val="54657A"/>
                </a:solidFill>
                <a:latin typeface="Consolas"/>
              </a:defRPr>
            </a:pPr>
            <a:r>
              <a:t>depth 0/2 | iter 1/8 | cost $0.003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7800" y="25603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0B1F33"/>
                </a:solidFill>
                <a:latin typeface="Consolas"/>
              </a:defRPr>
            </a:pPr>
            <a:r>
              <a:t>tool: list_spans(trace_id=abc) -&gt; 8 hot spans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3383280"/>
            <a:ext cx="4754880" cy="1097280"/>
          </a:xfrm>
          <a:prstGeom prst="roundRect">
            <a:avLst>
              <a:gd name="adj" fmla="val 4000"/>
            </a:avLst>
          </a:prstGeom>
          <a:solidFill>
            <a:srgbClr val="F5FBF7"/>
          </a:solidFill>
          <a:ln w="12700">
            <a:solidFill>
              <a:srgbClr val="1B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345643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B7F79"/>
                </a:solidFill>
                <a:latin typeface="Segoe UI Semibold"/>
              </a:defRPr>
            </a:pPr>
            <a:r>
              <a:t>Frame 1: subcall (retrieval hypothesis)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12280" y="3675888"/>
            <a:ext cx="2926080" cy="274320"/>
          </a:xfrm>
          <a:prstGeom prst="roundRect">
            <a:avLst/>
          </a:prstGeom>
          <a:solidFill>
            <a:srgbClr val="F5F0E8"/>
          </a:solidFill>
          <a:ln w="9525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>
              <a:defRPr sz="800">
                <a:solidFill>
                  <a:srgbClr val="54657A"/>
                </a:solidFill>
                <a:latin typeface="Consolas"/>
              </a:defRPr>
            </a:pPr>
            <a:r>
              <a:t>depth 1/2 | iter 1/4 | cost $0.001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3931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0B1F33"/>
                </a:solidFill>
                <a:latin typeface="Consolas"/>
              </a:defRPr>
            </a:pPr>
            <a:r>
              <a:t>return: { evidence_refs: ["span:xyz", "artifact:ret-001"] 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4251960"/>
            <a:ext cx="4480560" cy="457200"/>
          </a:xfrm>
          <a:prstGeom prst="roundRect">
            <a:avLst>
              <a:gd name="adj" fmla="val 4000"/>
            </a:avLst>
          </a:prstGeom>
          <a:solidFill>
            <a:srgbClr val="F8F8F5"/>
          </a:solidFill>
          <a:ln w="12700">
            <a:solidFill>
              <a:srgbClr val="E0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C0B8AC"/>
                </a:solidFill>
                <a:latin typeface="Consolas"/>
              </a:defRPr>
            </a:pPr>
            <a:r>
              <a:t>Frame 2: (depth limit reached)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7800" y="5120640"/>
            <a:ext cx="2176272" cy="256032"/>
          </a:xfrm>
          <a:prstGeom prst="roundRect">
            <a:avLst/>
          </a:prstGeom>
          <a:solidFill>
            <a:srgbClr val="EEF8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2E7D32"/>
                </a:solidFill>
                <a:latin typeface="Consolas"/>
              </a:defRPr>
            </a:pPr>
            <a:r>
              <a:t>shared budget: cost &lt;= $0.05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71500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54657A"/>
                </a:solidFill>
                <a:latin typeface="Segoe UI Semibold"/>
              </a:defRPr>
            </a:pPr>
            <a:r>
              <a:t>Contracts + audit trail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943600"/>
            <a:ext cx="1645920" cy="256032"/>
          </a:xfrm>
          <a:prstGeom prst="roundRect">
            <a:avLst/>
          </a:prstGeom>
          <a:solidFill>
            <a:srgbClr val="2E7D32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FFFFFF"/>
                </a:solidFill>
                <a:latin typeface="Consolas"/>
              </a:defRPr>
            </a:pPr>
            <a:r>
              <a:t>schema validated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68880" y="5943600"/>
            <a:ext cx="16459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run_record.json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60" y="5943600"/>
            <a:ext cx="16459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subcall metadata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Capability 1: Root Cause Analysis (RCA)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RCA goal: assign primary failure mode with evidence pointers + remediation.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Why it matters: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reduces MTTR (mean time to resolution)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standardizes incident classification across teams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makes investigations reproducible and measurable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Output (structured, evidence-linked):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primary_label  (tool failure, retrieval failure, schema mismatch, ...)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evidence_refs  (trace_id, span_id, artifact refs)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summary + remediation + gaps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B7F79"/>
                </a:solidFill>
                <a:latin typeface="Segoe UI"/>
              </a:defRPr>
            </a:pPr>
            <a:r>
              <a:t>→ Click-through evidence in the observability UI (span + artifact)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1887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0680" y="129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1F33"/>
                </a:solidFill>
                <a:latin typeface="Consolas"/>
              </a:defRPr>
            </a:pPr>
            <a:r>
              <a:t>RCAReport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26492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6080" y="1600200"/>
            <a:ext cx="164592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retrieval_failure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6276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  <a:latin typeface="Consolas"/>
              </a:defRPr>
            </a:pPr>
            <a:r>
              <a:t>confidence: HIGH  ███░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36080" y="2011680"/>
            <a:ext cx="219456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trace_id: abc-12345678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6080" y="2304288"/>
            <a:ext cx="219456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span_id: ret-span-001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36080" y="2596896"/>
            <a:ext cx="219456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span_id: tool-span-003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6080" y="2889504"/>
            <a:ext cx="219456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artifact: retrieval-io-7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057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B1F33"/>
                </a:solidFill>
                <a:latin typeface="Segoe UI"/>
              </a:defRPr>
            </a:pPr>
            <a:r>
              <a:t>Remediation:</a:t>
            </a:r>
            <a:br/>
            <a:r>
              <a:t>• Fix retriever embedding model mismatch</a:t>
            </a:r>
            <a:br/>
            <a:r>
              <a:t>• Add citation validation to RAG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4657A"/>
                </a:solidFill>
                <a:latin typeface="Segoe UI"/>
              </a:defRPr>
            </a:pPr>
            <a:r>
              <a:t>Gaps: upstream latency data not available in trace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0680" y="3886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Hot Spans (ranked)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83680" y="4114800"/>
          <a:ext cx="5120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280160"/>
                <a:gridCol w="73152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Span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ret-span-001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retriever returned 0 chunks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tool-span-003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tool input schema mismatch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synth-span-005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synthesis latency &gt; 5s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875520" y="3886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Segoe UI Semibold"/>
              </a:defRPr>
            </a:pPr>
            <a:r>
              <a:t>Trace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root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  ├ tool-call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  ├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0749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  │   └ chunk-eval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  └ synthesis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Capability 2: Policy-to-Trace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Compliance goal: evaluate behavior against explicit controls using trace evidence.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Why it matters: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governance: controls need provable evidence, not just narrative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audit: structured decisions with evidence pointers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standardization: consistent evaluation across apps/teams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Output (structured, per-control + overall):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verdict: pass / fail / needs_review / insufficient_evidence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confidence + severity + missing evidence list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evidence refs mapped to spans/artifacts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188720"/>
            <a:ext cx="5120640" cy="411480"/>
          </a:xfrm>
          <a:prstGeom prst="roundRect">
            <a:avLst>
              <a:gd name="adj" fmla="val 4000"/>
            </a:avLst>
          </a:prstGeom>
          <a:solidFill>
            <a:srgbClr val="EEF8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6080" y="126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7D32"/>
                </a:solidFill>
                <a:latin typeface="Segoe UI Semibold"/>
              </a:defRPr>
            </a:pPr>
            <a:r>
              <a:t>Overall verdict: PASS     confidence: 0.87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0" y="173736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457200"/>
                <a:gridCol w="2194560"/>
                <a:gridCol w="457200"/>
              </a:tblGrid>
              <a:tr h="426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control_id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conf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evidence refs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CTRL-001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span:tool-001, artifact:io-7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CTRL-002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span:ret-003, span:synth-005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CTRL-003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span:tool-001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CTRL-004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span:ret-003, artifact:cfg-2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CTRL-005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INSUFF_EVIDENCE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(missing)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583680" y="44805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DF8F0"/>
          </a:solidFill>
          <a:ln w="12700">
            <a:solidFill>
              <a:srgbClr val="C4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0680" y="455676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47F17"/>
                </a:solidFill>
                <a:latin typeface="Segoe UI Semibold"/>
              </a:defRPr>
            </a:pPr>
            <a:r>
              <a:t>Missing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680" y="4810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☐ tool_output artifact</a:t>
            </a:r>
            <a:br/>
            <a:r>
              <a:t>☐ retrieval citations</a:t>
            </a:r>
            <a:br/>
            <a:r>
              <a:t>☐ policy attestation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0680" y="53035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C47F17"/>
                </a:solidFill>
                <a:latin typeface="Consolas"/>
              </a:defRPr>
            </a:pPr>
            <a:r>
              <a:t>missing → insufficient_evidence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4480560"/>
            <a:ext cx="2194560" cy="109728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36760" y="45567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Policy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6760" y="4810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Consolas"/>
              </a:defRPr>
            </a:pPr>
            <a:r>
              <a:t>controls/v1</a:t>
            </a:r>
            <a:br/>
            <a:r>
              <a:t>scoped by app +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How RLM Tackles Long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Step 1: deterministic narrowing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hot spans (errors, exceptions, latency) / scoped controls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reduces noise and prevents context poisoning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Step 2: evidence-driven recursive loop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fetch only needed evidence via tools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delegate subcalls for subproblems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Step 3: finalize into contracts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schema-validated JSON output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run record emitted for replay and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097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raw evidence (too big for one prompt)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25880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span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25880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tool_io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25880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chunk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325880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config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1325880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618488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span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618488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msg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618488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timeout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1618488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schema_err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1618488"/>
            <a:ext cx="822960" cy="256032"/>
          </a:xfrm>
          <a:prstGeom prst="roundRect">
            <a:avLst/>
          </a:prstGeom>
          <a:solidFill>
            <a:srgbClr val="EEE8DE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rate_limit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194560"/>
            <a:ext cx="5303520" cy="9144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4920" y="2270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Stage 1: Deterministic narrowing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0320" y="2560320"/>
            <a:ext cx="1097280" cy="256032"/>
          </a:xfrm>
          <a:prstGeom prst="roundRect">
            <a:avLst/>
          </a:prstGeom>
          <a:solidFill>
            <a:srgbClr val="E8F5F3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1B7F79"/>
                </a:solidFill>
                <a:latin typeface="Consolas"/>
              </a:defRPr>
            </a:pPr>
            <a:r>
              <a:t>8 hot spans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2560320"/>
            <a:ext cx="1371600" cy="256032"/>
          </a:xfrm>
          <a:prstGeom prst="roundRect">
            <a:avLst/>
          </a:prstGeom>
          <a:solidFill>
            <a:srgbClr val="E8F5F3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1B7F79"/>
                </a:solidFill>
                <a:latin typeface="Consolas"/>
              </a:defRPr>
            </a:pPr>
            <a:r>
              <a:t>6 scoped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6060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Consolas"/>
              </a:defRPr>
            </a:pPr>
            <a:r>
              <a:t>120 spans → 8 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29184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4920" y="3368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Stage 2: Evidence-driven recursion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112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1F33"/>
                </a:solidFill>
                <a:latin typeface="Consolas"/>
              </a:defRPr>
            </a:pPr>
            <a:r>
              <a:t>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9720" y="38130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B7F79"/>
                </a:solidFill>
                <a:latin typeface="Consolas"/>
              </a:defRPr>
            </a:pPr>
            <a:r>
              <a:t>├ tool_call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9720" y="40142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B7F79"/>
                </a:solidFill>
                <a:latin typeface="Consolas"/>
              </a:defRPr>
            </a:pPr>
            <a:r>
              <a:t>├ delegate_subcall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8320" y="42153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Consolas"/>
              </a:defRPr>
            </a:pPr>
            <a:r>
              <a:t>└ tool_call (focused)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9720" y="44165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E7D32"/>
                </a:solidFill>
                <a:latin typeface="Consolas"/>
              </a:defRPr>
            </a:pPr>
            <a:r>
              <a:t>└ submit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657600"/>
            <a:ext cx="2103120" cy="274320"/>
          </a:xfrm>
          <a:prstGeom prst="roundRect">
            <a:avLst/>
          </a:prstGeom>
          <a:solidFill>
            <a:srgbClr val="F5F0E8"/>
          </a:solidFill>
          <a:ln w="9525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rIns="101600" tIns="25400" bIns="25400"/>
          <a:lstStyle/>
          <a:p>
            <a:pPr algn="l">
              <a:defRPr sz="800">
                <a:solidFill>
                  <a:srgbClr val="54657A"/>
                </a:solidFill>
                <a:latin typeface="Consolas"/>
              </a:defRPr>
            </a:pPr>
            <a:r>
              <a:t>depth &lt;= 2 | iter &lt;= 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846320"/>
            <a:ext cx="5303520" cy="7315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4920" y="4922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B1F33"/>
                </a:solidFill>
                <a:latin typeface="Segoe UI Semibold"/>
              </a:defRPr>
            </a:pPr>
            <a:r>
              <a:t>Stage 3: Typed finalize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0320" y="516636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SCHEMA OK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80960" y="516636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5193792"/>
            <a:ext cx="8686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trace_id: 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5193792"/>
            <a:ext cx="8686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span_id: ret-001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89920" y="5193792"/>
            <a:ext cx="8686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artifact: io-7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5760720"/>
            <a:ext cx="2560320" cy="256032"/>
          </a:xfrm>
          <a:prstGeom prst="roundRect">
            <a:avLst/>
          </a:prstGeom>
          <a:solidFill>
            <a:srgbClr val="EEF8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900">
                <a:solidFill>
                  <a:srgbClr val="2E7D32"/>
                </a:solidFill>
                <a:latin typeface="Consolas"/>
              </a:defRPr>
            </a:pPr>
            <a:r>
              <a:t>bounded cost/run: cost &lt;= $0.05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Implementation: Under the Hood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Investigator runtime is a bounded REPL loop: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call_tool(...)  = read-only inspection API fetch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llm_query(...)  = short semantic synthesis calls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SUBMIT(...)     = finalize structured output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Safety: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sandbox tool allowlist + argument validation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budgets (iterations, depth, tools, tokens, cost, wall-time)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deterministic recovery submit near deadline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Auditability: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every run writes: run_record.json + output JSON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trajectory, usage/cost, evidence pointers, errors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1188720" cy="64008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4120" y="1173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B1F33"/>
                </a:solidFill>
                <a:latin typeface="Segoe UI"/>
              </a:defRPr>
            </a:pPr>
            <a:r>
              <a:t>Trace store</a:t>
            </a:r>
            <a:br/>
            <a:r>
              <a:t>+ artifacts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097280"/>
            <a:ext cx="1188720" cy="64008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1440" y="1173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B1F33"/>
                </a:solidFill>
                <a:latin typeface="Segoe UI"/>
              </a:defRPr>
            </a:pPr>
            <a:r>
              <a:t>Investigation</a:t>
            </a:r>
            <a:br/>
            <a:r>
              <a:t>queue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097280"/>
            <a:ext cx="1188720" cy="64008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8760" y="1173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B1F33"/>
                </a:solidFill>
                <a:latin typeface="Segoe UI"/>
              </a:defRPr>
            </a:pPr>
            <a:r>
              <a:t>Investigator</a:t>
            </a:r>
            <a:br/>
            <a:r>
              <a:t>worker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1097280"/>
            <a:ext cx="1188720" cy="64008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46080" y="1173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0B1F33"/>
                </a:solidFill>
                <a:latin typeface="Segoe UI"/>
              </a:defRPr>
            </a:pPr>
            <a:r>
              <a:t>Write-back</a:t>
            </a:r>
            <a:br/>
            <a:r>
              <a:t>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3665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7CBB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13665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7CBB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3665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7CBB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96596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8F6F1"/>
          </a:solidFill>
          <a:ln w="12700">
            <a:solidFill>
              <a:srgbClr val="1B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4920" y="2016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B7F79"/>
                </a:solidFill>
                <a:latin typeface="Segoe UI Semibold"/>
              </a:defRPr>
            </a:pPr>
            <a:r>
              <a:t>RLM REPL Runtime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4920" y="2331720"/>
            <a:ext cx="10972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ToolRegistry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4920" y="2606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allowlisted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5080" y="2331720"/>
            <a:ext cx="10972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Sandbox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5080" y="2606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arg checks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5240" y="2331720"/>
            <a:ext cx="10972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5240" y="2606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depth/iter/cost/wall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85399" y="2331720"/>
            <a:ext cx="10972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RunRecord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5399" y="26060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artifacts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200400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1B2A3A"/>
          </a:solidFill>
          <a:ln w="12700">
            <a:solidFill>
              <a:srgbClr val="1B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4920" y="330200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# REPL iteration 3/8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4920" y="35031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spans = call_tool("list_spans",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4920" y="370433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    trace_id="abc-123")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4920" y="390550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hot = [s for s in spans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4920" y="41066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    if s.status == "ERROR"]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4920" y="4307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evidence = call_tool("get_tool_io",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4920" y="45090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    span_id=hot[0].id)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4920" y="471017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SUBMIT({"primary_label": ...,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4920" y="4911344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8DBAF"/>
                </a:solidFill>
                <a:latin typeface="Consolas"/>
              </a:defRPr>
            </a:pPr>
            <a:r>
              <a:t>    "evidence_refs": [...]})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4937760"/>
            <a:ext cx="1097280" cy="256032"/>
          </a:xfrm>
          <a:prstGeom prst="roundRect">
            <a:avLst/>
          </a:prstGeom>
          <a:solidFill>
            <a:srgbClr val="2A3A4A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A8DBAF"/>
                </a:solidFill>
                <a:latin typeface="Consolas"/>
              </a:defRPr>
            </a:pPr>
            <a:r>
              <a:t>wall-time 18s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32004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B1F33"/>
                </a:solidFill>
                <a:latin typeface="Segoe UI Semibold"/>
              </a:defRPr>
            </a:pPr>
            <a:r>
              <a:t>Tool allowlist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3474720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list_spans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373075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trace graph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3767328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get_span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02336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details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92640" y="4059936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get_tool_io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4315968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tool evidence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92640" y="4352544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list_controls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608576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policy pack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4645152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required_evidence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4901184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control needs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4937760"/>
            <a:ext cx="14630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get_retrieval_io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0" y="51937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4657A"/>
                </a:solidFill>
                <a:latin typeface="Consolas"/>
              </a:defRPr>
            </a:pPr>
            <a:r>
              <a:t>RAG context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5760720"/>
            <a:ext cx="15544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state_trajectory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0" y="5760720"/>
            <a:ext cx="15544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usage/cost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20" y="5760720"/>
            <a:ext cx="15544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800">
                <a:solidFill>
                  <a:srgbClr val="0B1F33"/>
                </a:solidFill>
                <a:latin typeface="Consolas"/>
              </a:defRPr>
            </a:pPr>
            <a:r>
              <a:t>subcall_metadata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Results: Proof Canaries (Quality + Run Health + Cost)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RCA 5-trace canary: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baseline accuracy 0.0 → RLM 0.8  (delta +0.8)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run health: succeeded 5/5, wall-time partials 0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cost: total ~$0.0216  (avg ~$0.0043/trace)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Compliance 5-trace canary: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baseline accuracy 0.8 → RLM 1.0  (delta +0.2)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run health: succeeded 5/5, partial_rate 0.0, failed 0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cost: total ~$0.0469  (avg ~$0.0094/trace)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B7F79"/>
                </a:solidFill>
                <a:latin typeface="Segoe UI"/>
              </a:defRPr>
            </a:pPr>
            <a:r>
              <a:t>Key takeaway: working beta with strong run-health</a:t>
            </a:r>
            <a:br/>
            <a:r>
              <a:t>and measurable quality lift.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217920" y="1188720"/>
          <a:ext cx="5029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640080"/>
                <a:gridCol w="640080"/>
                <a:gridCol w="1005840"/>
                <a:gridCol w="914400"/>
              </a:tblGrid>
              <a:tr h="396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RLM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F33"/>
                          </a:solidFill>
                          <a:latin typeface="Segoe UI Semibold"/>
                        </a:defRPr>
                      </a:pPr>
                      <a:r>
                        <a:t>Avg Cost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RCA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+0.8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S5 P0 F0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$0.0043</a:t>
                      </a:r>
                    </a:p>
                  </a:txBody>
                  <a:tcPr>
                    <a:solidFill>
                      <a:srgbClr val="FFFDFA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+0.2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S5 P0 F0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B1F33"/>
                          </a:solidFill>
                          <a:latin typeface="Consolas"/>
                        </a:defRPr>
                      </a:pPr>
                      <a:r>
                        <a:t>$0.0094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7CBBE"/>
                      </a:solidFill>
                    </a:lnL>
                    <a:lnR w="6350">
                      <a:solidFill>
                        <a:srgbClr val="D7CBBE"/>
                      </a:solidFill>
                    </a:lnR>
                    <a:lnT w="6350">
                      <a:solidFill>
                        <a:srgbClr val="D7CBBE"/>
                      </a:solidFill>
                    </a:lnT>
                    <a:lnB w="6350">
                      <a:solidFill>
                        <a:srgbClr val="D7CBB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217920" y="2834640"/>
            <a:ext cx="2926080" cy="137160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731520" cy="137160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B7F79"/>
                </a:solidFill>
                <a:latin typeface="Consolas"/>
              </a:defRPr>
            </a:pPr>
            <a:r>
              <a:t>RCA delta: +0.8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880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B7F79"/>
                </a:solidFill>
                <a:latin typeface="Consolas"/>
              </a:defRPr>
            </a:pPr>
            <a:r>
              <a:t>Compliance delta: +0.2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83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1F33"/>
                </a:solidFill>
                <a:latin typeface="Segoe UI Semibold"/>
              </a:defRPr>
            </a:pPr>
            <a:r>
              <a:t>Run Health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RCA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703320"/>
            <a:ext cx="548640" cy="256032"/>
          </a:xfrm>
          <a:prstGeom prst="roundRect">
            <a:avLst/>
          </a:prstGeom>
          <a:solidFill>
            <a:srgbClr val="EEF8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2E7D32"/>
                </a:solidFill>
                <a:latin typeface="Consolas"/>
              </a:defRPr>
            </a:pPr>
            <a:r>
              <a:t>S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703320"/>
            <a:ext cx="5486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54657A"/>
                </a:solidFill>
                <a:latin typeface="Consolas"/>
              </a:defRPr>
            </a:pPr>
            <a:r>
              <a:t>P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703320"/>
            <a:ext cx="5486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54657A"/>
                </a:solidFill>
                <a:latin typeface="Consolas"/>
              </a:defRPr>
            </a:pPr>
            <a:r>
              <a:t>F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Compliance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4114800"/>
            <a:ext cx="548640" cy="256032"/>
          </a:xfrm>
          <a:prstGeom prst="roundRect">
            <a:avLst/>
          </a:prstGeom>
          <a:solidFill>
            <a:srgbClr val="EEF8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2E7D32"/>
                </a:solidFill>
                <a:latin typeface="Consolas"/>
              </a:defRPr>
            </a:pPr>
            <a:r>
              <a:t>S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800"/>
            <a:ext cx="5486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54657A"/>
                </a:solidFill>
                <a:latin typeface="Consolas"/>
              </a:defRPr>
            </a:pPr>
            <a:r>
              <a:t>P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114800"/>
            <a:ext cx="54864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1000">
                <a:solidFill>
                  <a:srgbClr val="54657A"/>
                </a:solidFill>
                <a:latin typeface="Consolas"/>
              </a:defRPr>
            </a:pPr>
            <a:r>
              <a:t>F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1F33"/>
                </a:solidFill>
                <a:latin typeface="Consolas"/>
              </a:defRPr>
            </a:pPr>
            <a:r>
              <a:t>Combined avg: ~$0.0137/trace  (RCA + Compliance)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0292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285232"/>
            <a:ext cx="20116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rca_only_report.json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596128"/>
            <a:ext cx="22860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compliance_only_report.json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534924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Scaling to Company-Wide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Deployment model: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async job queue triggered by traces/incidents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investigator workers per capability (RCA, compliance)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write-back findings to observability platform UI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Guarded rollout: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policy packs per domain/team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budgets per run + per team + per day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route low-confidence/high-severity to humans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continuous benchmarking gates (quality + run-health + cost)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0B1F33"/>
                </a:solidFill>
                <a:latin typeface="Segoe UI"/>
              </a:defRPr>
            </a:pPr>
            <a:r>
              <a:t>Economics (pilot profile):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combined avg ~$0.0137/trace (RCA + compliance)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scale by automating repetitive, high-volume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F2F9F3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4920" y="1239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7D32"/>
                </a:solidFill>
                <a:latin typeface="Segoe UI Semibold"/>
              </a:defRPr>
            </a:pPr>
            <a:r>
              <a:t>Lane A: Automation (bounded)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4920" y="1554480"/>
            <a:ext cx="82296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Trace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6168" y="15544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E7D32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6480" y="1554480"/>
            <a:ext cx="82296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7728" y="15544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E7D32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48040" y="1554480"/>
            <a:ext cx="82296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Worker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9288" y="15544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E7D32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9599" y="1554480"/>
            <a:ext cx="82296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0847" y="1554480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E7D32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1160" y="1554480"/>
            <a:ext cx="822960" cy="2560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Write- 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4920" y="1965960"/>
            <a:ext cx="27432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54657A"/>
                </a:solidFill>
                <a:latin typeface="Consolas"/>
              </a:defRPr>
            </a:pPr>
            <a:r>
              <a:t>daily cap | per-run budget | wall-time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965960"/>
            <a:ext cx="15544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policy packs → worker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74320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DF8F0"/>
          </a:solidFill>
          <a:ln w="12700">
            <a:solidFill>
              <a:srgbClr val="C4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4920" y="2794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47F17"/>
                </a:solidFill>
                <a:latin typeface="Segoe UI Semibold"/>
              </a:defRPr>
            </a:pPr>
            <a:r>
              <a:t>Lane B: Human review (only when needed)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49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Consolas"/>
              </a:defRPr>
            </a:pPr>
            <a:r>
              <a:t>low confidence / high severity  →  analyst  →  approval / escalation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4920" y="3383280"/>
            <a:ext cx="201168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evidence pack for analyst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8320" y="3383280"/>
            <a:ext cx="2743200" cy="256032"/>
          </a:xfrm>
          <a:prstGeom prst="roundRect">
            <a:avLst/>
          </a:prstGeom>
          <a:solidFill>
            <a:srgbClr val="EEF8F0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2E7D32"/>
                </a:solidFill>
                <a:latin typeface="Consolas"/>
              </a:defRPr>
            </a:pPr>
            <a:r>
              <a:t>benchmark gates: quality + run health +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14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B1F33"/>
                </a:solidFill>
                <a:latin typeface="Segoe UI Semibold"/>
              </a:defRPr>
            </a:pPr>
            <a:r>
              <a:t>Rollout Timeline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434840"/>
            <a:ext cx="1645920" cy="100584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9520" y="4511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1. Canary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9520" y="4765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N small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9520" y="49936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non-negative delta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434840"/>
            <a:ext cx="1645920" cy="100584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48320" y="4511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2. Guarded rollout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8320" y="4765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team opt-in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8320" y="49936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budget caps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4434840"/>
            <a:ext cx="1645920" cy="100584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77120" y="4511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3. Standard workflow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77120" y="47650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Consolas"/>
              </a:defRPr>
            </a:pPr>
            <a:r>
              <a:t>org-wide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7120" y="49936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B7F79"/>
                </a:solidFill>
                <a:latin typeface="Consolas"/>
              </a:defRPr>
            </a:pPr>
            <a:r>
              <a:t>SLA/MTTR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7CBB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754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7CBBE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Roadmap: What Comes Next (Credible, Not Hype)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3716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Improve RCA edge cases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e.g., tool timeout vs upstream dependency classification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Enforce stricter RCA REPL submit contract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prevent missing primary_label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Add connectors for logs/metrics (beyond traces)</a:t>
            </a:r>
          </a:p>
          <a:p>
            <a:pPr>
              <a:spcAft>
                <a:spcPts val="400"/>
              </a:spcAft>
              <a:defRPr sz="1300" b="0">
                <a:solidFill>
                  <a:srgbClr val="0B1F33"/>
                </a:solidFill>
                <a:latin typeface="Segoe UI"/>
              </a:defRPr>
            </a:pPr>
            <a:r>
              <a:t>Expand incident dossier engine</a:t>
            </a:r>
          </a:p>
          <a:p>
            <a:pPr lvl="1">
              <a:spcAft>
                <a:spcPts val="400"/>
              </a:spcAft>
              <a:defRPr sz="1200" b="0">
                <a:solidFill>
                  <a:srgbClr val="0B1F33"/>
                </a:solidFill>
                <a:latin typeface="Segoe UI"/>
              </a:defRPr>
            </a:pPr>
            <a:r>
              <a:t>once multi-trace correlation tools are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1691640" cy="365760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9520" y="176784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disambiguate tool</a:t>
            </a:r>
            <a:br/>
            <a:r>
              <a:t>timeout vs upstream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9520" y="21945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accuracy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9520" y="24231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delta &gt;= 0 on canaries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9520" y="269748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3756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9520" y="341376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enforce submit</a:t>
            </a:r>
            <a:br/>
            <a:r>
              <a:t>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9520" y="38404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prevent missing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9520" y="40690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0 missing primary_label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9520" y="434340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188720"/>
            <a:ext cx="1691640" cy="365760"/>
          </a:xfrm>
          <a:prstGeom prst="roundRect">
            <a:avLst>
              <a:gd name="adj" fmla="val 4000"/>
            </a:avLst>
          </a:prstGeom>
          <a:solidFill>
            <a:srgbClr val="1B7F79"/>
          </a:solidFill>
          <a:ln w="12700">
            <a:solidFill>
              <a:srgbClr val="1B7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NEXT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69164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8320" y="176784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add logs/metrics</a:t>
            </a:r>
            <a:br/>
            <a:r>
              <a:t>connectors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8320" y="21945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richer evidence 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8320" y="24231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new signal types in runs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48320" y="269748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33756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8320" y="341376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multi-trace</a:t>
            </a:r>
            <a:br/>
            <a:r>
              <a:t>correlation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8320" y="38404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incident 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8320" y="40690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cross-trace coverage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8320" y="434340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1188720"/>
            <a:ext cx="1691640" cy="365760"/>
          </a:xfrm>
          <a:prstGeom prst="roundRect">
            <a:avLst>
              <a:gd name="adj" fmla="val 4000"/>
            </a:avLst>
          </a:prstGeom>
          <a:solidFill>
            <a:srgbClr val="54657A"/>
          </a:solidFill>
          <a:ln w="12700">
            <a:solidFill>
              <a:srgbClr val="546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LATER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169164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7120" y="176784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expand incident</a:t>
            </a:r>
            <a:br/>
            <a:r>
              <a:t>dossier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7120" y="21945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full incident product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120" y="242316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dossier schema v2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77120" y="269748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75520" y="3337560"/>
            <a:ext cx="1691640" cy="141732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77120" y="3413760"/>
            <a:ext cx="1488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self-improving</a:t>
            </a:r>
            <a:br/>
            <a:r>
              <a:t>proof canaries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7120" y="38404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continuous 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77120" y="4069080"/>
            <a:ext cx="1488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B7F79"/>
                </a:solidFill>
                <a:latin typeface="Consolas"/>
              </a:defRPr>
            </a:pPr>
            <a:r>
              <a:t>automated regression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77120" y="4343400"/>
            <a:ext cx="118872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600">
                <a:solidFill>
                  <a:srgbClr val="0B1F33"/>
                </a:solidFill>
                <a:latin typeface="Consolas"/>
              </a:defRPr>
            </a:pPr>
            <a:r>
              <a:t>proof_report.json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60720"/>
            <a:ext cx="11247120" cy="365760"/>
          </a:xfrm>
          <a:prstGeom prst="roundRect">
            <a:avLst>
              <a:gd name="adj" fmla="val 4000"/>
            </a:avLst>
          </a:prstGeom>
          <a:solidFill>
            <a:srgbClr val="F5F0E8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1200" y="5811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Consolas"/>
              </a:defRPr>
            </a:pPr>
            <a:r>
              <a:t>Rule: improvements must show non-negative delta on proof canaries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753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507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8261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11015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3769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16522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69276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20304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747842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275380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802918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330456"/>
            <a:ext cx="12191695" cy="6350"/>
          </a:xfrm>
          <a:prstGeom prst="rect">
            <a:avLst/>
          </a:prstGeom>
          <a:solidFill>
            <a:srgbClr val="D7CBB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"/>
            <a:ext cx="5080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4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4657A"/>
                </a:solidFill>
                <a:latin typeface="Segoe UI"/>
              </a:defRPr>
            </a:pPr>
            <a:r>
              <a:t>AI Observability Investigation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858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0B1F33"/>
                </a:solidFill>
                <a:latin typeface="Segoe UI Semibold"/>
              </a:defRPr>
            </a:pPr>
            <a:r>
              <a:t>References (External + Internal)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37160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200" y="14224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Reasoning Language Models (RLM)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1651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Core architecture pattern for bounded investigation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422400"/>
            <a:ext cx="640080" cy="256032"/>
          </a:xfrm>
          <a:prstGeom prst="roundRect">
            <a:avLst/>
          </a:prstGeom>
          <a:solidFill>
            <a:srgbClr val="C6282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arxiv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1879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arxiv.org/abs/2512.24601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176272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200" y="22270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Lost in the Middle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455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Why long context degrades accuracy for retrieval tasks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227072"/>
            <a:ext cx="640080" cy="256032"/>
          </a:xfrm>
          <a:prstGeom prst="roundRect">
            <a:avLst/>
          </a:prstGeom>
          <a:solidFill>
            <a:srgbClr val="C6282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arxiv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268427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arxiv.org/abs/2307.03172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80944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200" y="30317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OpenTelemetry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26034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Trace/span/metric data model for observability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031744"/>
            <a:ext cx="640080" cy="256032"/>
          </a:xfrm>
          <a:prstGeom prst="roundRect">
            <a:avLst/>
          </a:prstGeom>
          <a:solidFill>
            <a:srgbClr val="1B7F79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spec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48894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opentelemetry.io/docs/concepts/signals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785616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200" y="38364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NIST AI Risk Management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406501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Enterprise AI governance baseline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836416"/>
            <a:ext cx="640080" cy="256032"/>
          </a:xfrm>
          <a:prstGeom prst="roundRect">
            <a:avLst/>
          </a:prstGeom>
          <a:solidFill>
            <a:srgbClr val="1B7F79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spec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42936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nist.gov/itl/ai-risk-management-framework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90288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4200" y="46410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Arize Phoenix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86968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Open-source trace store and observability UI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641088"/>
            <a:ext cx="640080" cy="256032"/>
          </a:xfrm>
          <a:prstGeom prst="roundRect">
            <a:avLst/>
          </a:prstGeom>
          <a:solidFill>
            <a:srgbClr val="2E7D32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509828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arize.com/docs/phoenix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394960"/>
            <a:ext cx="5486400" cy="713232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4200" y="54457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B1F33"/>
                </a:solidFill>
                <a:latin typeface="Segoe UI Semibold"/>
              </a:defRPr>
            </a:pPr>
            <a:r>
              <a:t>RLM Explainer (Alex Zhang)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5674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Practical walkthrough of RLM concepts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5445760"/>
            <a:ext cx="640080" cy="256032"/>
          </a:xfrm>
          <a:prstGeom prst="roundRect">
            <a:avLst/>
          </a:prstGeom>
          <a:solidFill>
            <a:srgbClr val="C47F17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FFFFFF"/>
                </a:solidFill>
                <a:latin typeface="Consolas"/>
              </a:defRPr>
            </a:pPr>
            <a:r>
              <a:t>concept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5902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4657A"/>
                </a:solidFill>
                <a:latin typeface="Consolas"/>
              </a:defRPr>
            </a:pPr>
            <a:r>
              <a:t>alexzhang13.github.io/blog/2025/rlm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DFA"/>
          </a:solidFill>
          <a:ln w="1270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147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B1F33"/>
                </a:solidFill>
                <a:latin typeface="Segoe UI Semibold"/>
              </a:defRPr>
            </a:pPr>
            <a:r>
              <a:t>Proof Index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147320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3200" y="1920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Segoe UI"/>
              </a:defRPr>
            </a:pPr>
            <a:r>
              <a:t>RCA canary report: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53200" y="2148840"/>
            <a:ext cx="45720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phase10-rca-only-canary-5-retrieverfix/.../rca_only_report.json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3200" y="25603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4657A"/>
                </a:solidFill>
                <a:latin typeface="Segoe UI"/>
              </a:defRPr>
            </a:pPr>
            <a:r>
              <a:t>Compliance canary report: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53200" y="2788920"/>
            <a:ext cx="4572000" cy="256032"/>
          </a:xfrm>
          <a:prstGeom prst="roundRect">
            <a:avLst/>
          </a:prstGeom>
          <a:solidFill>
            <a:srgbClr val="F5F0E8"/>
          </a:solidFill>
          <a:ln w="6350">
            <a:solidFill>
              <a:srgbClr val="D7C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>
              <a:defRPr sz="700">
                <a:solidFill>
                  <a:srgbClr val="0B1F33"/>
                </a:solidFill>
                <a:latin typeface="Consolas"/>
              </a:defRPr>
            </a:pPr>
            <a:r>
              <a:t>phase10-compliance-only-canary-5/.../compliance_only_report.json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32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B7F79"/>
                </a:solidFill>
                <a:latin typeface="Consolas"/>
              </a:defRPr>
            </a:pPr>
            <a:r>
              <a:t>replayable from artifacts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3291840"/>
            <a:ext cx="1188720" cy="2377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defRPr sz="800" b="1">
                <a:solidFill>
                  <a:srgbClr val="2E7D32"/>
                </a:solidFill>
                <a:latin typeface="Consolas"/>
              </a:defRPr>
            </a:pPr>
            <a:r>
              <a:t>RUN RECORDED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B1F33"/>
                </a:solidFill>
                <a:latin typeface="Segoe UI Semibold"/>
              </a:defRPr>
            </a:pPr>
            <a:r>
              <a:t>Thank you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4657A"/>
                </a:solidFill>
                <a:latin typeface="Segoe UI"/>
              </a:defRPr>
            </a:pPr>
            <a:r>
              <a:t>Questions? Evidence is in the artifacts.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54657A"/>
                </a:solidFill>
                <a:latin typeface="Segoe UI"/>
              </a:defRPr>
            </a:pPr>
            <a:r>
              <a:t>Slide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